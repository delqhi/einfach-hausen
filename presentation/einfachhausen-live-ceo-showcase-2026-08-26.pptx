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8FBEA7">
              <a:alpha val="70000"/>
            </a:srgbClr>
          </a:solidFill>
          <a:ln w="12700">
            <a:solidFill>
              <a:srgbClr val="0E6B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" y="411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5216" y="1051560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SHOWCASE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417320"/>
            <a:ext cx="47091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professionell vorstellen.</a:t>
            </a:r>
            <a:endParaRPr lang="en-US" sz="3500" dirty="0"/>
          </a:p>
        </p:txBody>
      </p:sp>
      <p:sp>
        <p:nvSpPr>
          <p:cNvPr id="7" name="Text 5"/>
          <p:cNvSpPr/>
          <p:nvPr/>
        </p:nvSpPr>
        <p:spPr>
          <a:xfrm>
            <a:off x="585216" y="2788920"/>
            <a:ext cx="4206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Website, Eigentümer-App und Handwerker-App — frisch vom Live-System, kuratiert als Team-Präsentation.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545836" y="548640"/>
            <a:ext cx="5961888" cy="4123944"/>
          </a:xfrm>
          <a:prstGeom prst="roundRect">
            <a:avLst>
              <a:gd name="adj" fmla="val 2661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  <a:effectLst>
            <a:outerShdw sx="100000" sy="100000" kx="0" ky="0" algn="bl" rotWithShape="0" blurRad="12700" dist="50800" dir="2700000">
              <a:srgbClr val="CBD7C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545836" y="548640"/>
            <a:ext cx="5961888" cy="274320"/>
          </a:xfrm>
          <a:prstGeom prst="rect">
            <a:avLst/>
          </a:prstGeom>
          <a:solidFill>
            <a:srgbClr val="EFF4E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87568" y="612648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E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327648" y="603504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· Startseite</a:t>
            </a:r>
            <a:endParaRPr lang="en-US" sz="780" dirty="0"/>
          </a:p>
        </p:txBody>
      </p:sp>
      <p:pic>
        <p:nvPicPr>
          <p:cNvPr id="12" name="Image 0" descr="presentation/ceo-assets/website-home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77840" y="786384"/>
            <a:ext cx="5897880" cy="384048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4663440" y="2980944"/>
            <a:ext cx="1380744" cy="2862072"/>
          </a:xfrm>
          <a:prstGeom prst="roundRect">
            <a:avLst>
              <a:gd name="adj" fmla="val 18543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097780" y="310896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5" name="Image 1" descr="presentation/ceo-assets/owner-home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36592" y="3227832"/>
            <a:ext cx="1234440" cy="240487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709160" y="587959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Eigentümer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9939528" y="2980944"/>
            <a:ext cx="1380744" cy="2862072"/>
          </a:xfrm>
          <a:prstGeom prst="roundRect">
            <a:avLst>
              <a:gd name="adj" fmla="val 18543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0373868" y="310896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9" name="Image 2" descr="presentation/ceo-assets/pro-start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12680" y="3227832"/>
            <a:ext cx="1234440" cy="24048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985248" y="5879592"/>
            <a:ext cx="1289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Handwerker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585216" y="5166360"/>
            <a:ext cx="3931920" cy="822960"/>
          </a:xfrm>
          <a:prstGeom prst="roundRect">
            <a:avLst>
              <a:gd name="adj" fmla="val 14444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786384" y="5321808"/>
            <a:ext cx="35295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Live-Nachweis</a:t>
            </a:r>
            <a:endParaRPr lang="en-US" sz="1300" dirty="0"/>
          </a:p>
        </p:txBody>
      </p:sp>
      <p:sp>
        <p:nvSpPr>
          <p:cNvPr id="23" name="Text 18"/>
          <p:cNvSpPr/>
          <p:nvPr/>
        </p:nvSpPr>
        <p:spPr>
          <a:xfrm>
            <a:off x="786384" y="5623560"/>
            <a:ext cx="35295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main und Produktion laufen auf demselben Commit 3a8aa93. Healthcheck: ok, Datenbank ready.</a:t>
            </a:r>
            <a:endParaRPr lang="en-US" sz="1050" dirty="0"/>
          </a:p>
        </p:txBody>
      </p:sp>
      <p:sp>
        <p:nvSpPr>
          <p:cNvPr id="24" name="Text 19"/>
          <p:cNvSpPr/>
          <p:nvPr/>
        </p:nvSpPr>
        <p:spPr>
          <a:xfrm>
            <a:off x="548640" y="651052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· einfachhausen.de · GitHub/Production: 3a8aa93 · Health: ok / database ready</a:t>
            </a:r>
            <a:endParaRPr lang="en-US" sz="780" dirty="0"/>
          </a:p>
        </p:txBody>
      </p:sp>
      <p:sp>
        <p:nvSpPr>
          <p:cNvPr id="25" name="Text 20"/>
          <p:cNvSpPr/>
          <p:nvPr/>
        </p:nvSpPr>
        <p:spPr>
          <a:xfrm>
            <a:off x="1088136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26.08.2026</a:t>
            </a:r>
            <a:endParaRPr lang="en-US" sz="78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8FBEA7">
              <a:alpha val="70000"/>
            </a:srgbClr>
          </a:solidFill>
          <a:ln w="12700">
            <a:solidFill>
              <a:srgbClr val="0E6B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" y="411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20700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Was heute wirklich live ist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 kurzer CEO-Blick: drei Oberflächen, ein gemeinsamer Produktkern, echte Produktionsdaten.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911596" y="832104"/>
            <a:ext cx="5413248" cy="3776472"/>
          </a:xfrm>
          <a:prstGeom prst="roundRect">
            <a:avLst>
              <a:gd name="adj" fmla="val 2906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  <a:effectLst>
            <a:outerShdw sx="100000" sy="100000" kx="0" ky="0" algn="bl" rotWithShape="0" blurRad="12700" dist="50800" dir="2700000">
              <a:srgbClr val="CBD7C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911596" y="832104"/>
            <a:ext cx="5413248" cy="274320"/>
          </a:xfrm>
          <a:prstGeom prst="rect">
            <a:avLst/>
          </a:prstGeom>
          <a:solidFill>
            <a:srgbClr val="EFF4E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53328" y="89611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E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693408" y="88696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einfachhausen.de</a:t>
            </a:r>
            <a:endParaRPr lang="en-US" sz="780" dirty="0"/>
          </a:p>
        </p:txBody>
      </p:sp>
      <p:pic>
        <p:nvPicPr>
          <p:cNvPr id="12" name="Image 0" descr="presentation/ceo-assets/website-home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069848"/>
            <a:ext cx="5349240" cy="3493008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85800" y="2788920"/>
            <a:ext cx="246888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86968" y="294436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Website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86968" y="324612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Öffentliche Angebots- und Vertrauensstrecke für Eigentümer.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3310128" y="2788920"/>
            <a:ext cx="2468880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3511296" y="2944368"/>
            <a:ext cx="20665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Eigentümer-App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3511296" y="3246120"/>
            <a:ext cx="20665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Self-Service, Hausakte, Hausmeister und Tarife im mobilen Flow.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685800" y="3913632"/>
            <a:ext cx="5093208" cy="914400"/>
          </a:xfrm>
          <a:prstGeom prst="roundRect">
            <a:avLst>
              <a:gd name="adj" fmla="val 13000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86968" y="4069080"/>
            <a:ext cx="46908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Handwerker-App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886968" y="4370832"/>
            <a:ext cx="46908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Partnerzugang, Aufträge, Team und Profil als operativer Kanal.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8640" y="651052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· einfachhausen.de · GitHub/Production: 3a8aa93 · Health: ok / database ready</a:t>
            </a:r>
            <a:endParaRPr lang="en-US" sz="780" dirty="0"/>
          </a:p>
        </p:txBody>
      </p:sp>
      <p:sp>
        <p:nvSpPr>
          <p:cNvPr id="23" name="Text 20"/>
          <p:cNvSpPr/>
          <p:nvPr/>
        </p:nvSpPr>
        <p:spPr>
          <a:xfrm>
            <a:off x="1088136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26.08.2026</a:t>
            </a:r>
            <a:endParaRPr lang="en-US" sz="78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8FBEA7">
              <a:alpha val="70000"/>
            </a:srgbClr>
          </a:solidFill>
          <a:ln w="12700">
            <a:solidFill>
              <a:srgbClr val="0E6B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" y="411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20700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erste Eindruck muss sofort sitzen.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Startseite ist der Einstiegsanker: verständlich, ruhig, vertrauensbildend.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710428" y="786384"/>
            <a:ext cx="5779008" cy="4105656"/>
          </a:xfrm>
          <a:prstGeom prst="roundRect">
            <a:avLst>
              <a:gd name="adj" fmla="val 2673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  <a:effectLst>
            <a:outerShdw sx="100000" sy="100000" kx="0" ky="0" algn="bl" rotWithShape="0" blurRad="12700" dist="50800" dir="2700000">
              <a:srgbClr val="CBD7C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710428" y="786384"/>
            <a:ext cx="5779008" cy="274320"/>
          </a:xfrm>
          <a:prstGeom prst="rect">
            <a:avLst/>
          </a:prstGeom>
          <a:solidFill>
            <a:srgbClr val="EFF4E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852160" y="85039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E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492240" y="84124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Startseite · Hero</a:t>
            </a:r>
            <a:endParaRPr lang="en-US" sz="780" dirty="0"/>
          </a:p>
        </p:txBody>
      </p:sp>
      <p:pic>
        <p:nvPicPr>
          <p:cNvPr id="12" name="Image 0" descr="presentation/ceo-assets/website-home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024128"/>
            <a:ext cx="5715000" cy="3822192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58368" y="3703320"/>
            <a:ext cx="438912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385876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59536" y="416052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Klarer Nutzen, große Typografie, grüne Markenführung und direkter Einstieg.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51052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· einfachhausen.de · GitHub/Production: 3a8aa93 · Health: ok / database ready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1088136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26.08.2026</a:t>
            </a:r>
            <a:endParaRPr lang="en-US" sz="7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8FBEA7">
              <a:alpha val="70000"/>
            </a:srgbClr>
          </a:solidFill>
          <a:ln w="12700">
            <a:solidFill>
              <a:srgbClr val="0E6B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" y="411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20700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Leistungen in einer nachvollziehbaren Struktur.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Nicht nur schön: die Seite muss erklären, warum Einfachhausen die Arbeit abnimmt.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271516" y="722376"/>
            <a:ext cx="6144768" cy="4251960"/>
          </a:xfrm>
          <a:prstGeom prst="roundRect">
            <a:avLst>
              <a:gd name="adj" fmla="val 2581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  <a:effectLst>
            <a:outerShdw sx="100000" sy="100000" kx="0" ky="0" algn="bl" rotWithShape="0" blurRad="12700" dist="50800" dir="2700000">
              <a:srgbClr val="CBD7C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271516" y="722376"/>
            <a:ext cx="6144768" cy="274320"/>
          </a:xfrm>
          <a:prstGeom prst="rect">
            <a:avLst/>
          </a:prstGeom>
          <a:solidFill>
            <a:srgbClr val="EFF4E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13248" y="786384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E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053328" y="77724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Leistungen</a:t>
            </a:r>
            <a:endParaRPr lang="en-US" sz="780" dirty="0"/>
          </a:p>
        </p:txBody>
      </p:sp>
      <p:pic>
        <p:nvPicPr>
          <p:cNvPr id="12" name="Image 0" descr="presentation/ceo-assets/website-services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960120"/>
            <a:ext cx="6080760" cy="396849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58368" y="3858768"/>
            <a:ext cx="4069080" cy="95097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59536" y="4014216"/>
            <a:ext cx="36667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Team-Talktrack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59536" y="4315968"/>
            <a:ext cx="3666744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 dieser Folie erklären wir, welche Gewerke und Services künftig in den Produktkanal führen.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51052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· einfachhausen.de · GitHub/Production: 3a8aa93 · Health: ok / database ready</a:t>
            </a:r>
            <a:endParaRPr lang="en-US" sz="780" dirty="0"/>
          </a:p>
        </p:txBody>
      </p:sp>
      <p:sp>
        <p:nvSpPr>
          <p:cNvPr id="17" name="Text 14"/>
          <p:cNvSpPr/>
          <p:nvPr/>
        </p:nvSpPr>
        <p:spPr>
          <a:xfrm>
            <a:off x="1088136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26.08.2026</a:t>
            </a:r>
            <a:endParaRPr lang="en-US" sz="7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8FBEA7">
              <a:alpha val="70000"/>
            </a:srgbClr>
          </a:solidFill>
          <a:ln w="12700">
            <a:solidFill>
              <a:srgbClr val="0E6B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" y="411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20700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Ablauf macht das Produkt greifbar.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Team-Blick: Website verkauft nicht nur, sie bereitet App- und Serviceprozesse vor.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81244" y="630936"/>
            <a:ext cx="5961888" cy="4169664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  <a:effectLst>
            <a:outerShdw sx="100000" sy="100000" kx="0" ky="0" algn="bl" rotWithShape="0" blurRad="12700" dist="50800" dir="2700000">
              <a:srgbClr val="CBD7C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81244" y="630936"/>
            <a:ext cx="5961888" cy="274320"/>
          </a:xfrm>
          <a:prstGeom prst="rect">
            <a:avLst/>
          </a:prstGeom>
          <a:solidFill>
            <a:srgbClr val="EFF4E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522976" y="694944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E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6163056" y="68580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funktioniert’s</a:t>
            </a:r>
            <a:endParaRPr lang="en-US" sz="780" dirty="0"/>
          </a:p>
        </p:txBody>
      </p:sp>
      <p:pic>
        <p:nvPicPr>
          <p:cNvPr id="12" name="Image 0" descr="presentation/ceo-assets/website-how-to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13248" y="868680"/>
            <a:ext cx="5897880" cy="3886200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6414516" y="4178808"/>
            <a:ext cx="3858768" cy="2066544"/>
          </a:xfrm>
          <a:prstGeom prst="roundRect">
            <a:avLst>
              <a:gd name="adj" fmla="val 5310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  <a:effectLst>
            <a:outerShdw sx="100000" sy="100000" kx="0" ky="0" algn="bl" rotWithShape="0" blurRad="12700" dist="50800" dir="2700000">
              <a:srgbClr val="CBD7CE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6414516" y="4178808"/>
            <a:ext cx="3858768" cy="274320"/>
          </a:xfrm>
          <a:prstGeom prst="rect">
            <a:avLst/>
          </a:prstGeom>
          <a:solidFill>
            <a:srgbClr val="EFF4E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556248" y="4242816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E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196328" y="4233672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Prozessdetails</a:t>
            </a:r>
            <a:endParaRPr lang="en-US" sz="780" dirty="0"/>
          </a:p>
        </p:txBody>
      </p:sp>
      <p:pic>
        <p:nvPicPr>
          <p:cNvPr id="17" name="Image 1" descr="presentation/ceo-assets/website-how-step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6520" y="4416552"/>
            <a:ext cx="3794760" cy="17830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58368" y="3749040"/>
            <a:ext cx="420624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859536" y="3904488"/>
            <a:ext cx="3803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Wichtig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859536" y="4206240"/>
            <a:ext cx="380390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Website sollte künftig genau die nächsten Schritte erklären, die später in Eigentümer- und Handwerker-App sichtbar werden.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548640" y="651052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· einfachhausen.de · GitHub/Production: 3a8aa93 · Health: ok / database ready</a:t>
            </a:r>
            <a:endParaRPr lang="en-US" sz="780" dirty="0"/>
          </a:p>
        </p:txBody>
      </p:sp>
      <p:sp>
        <p:nvSpPr>
          <p:cNvPr id="22" name="Text 18"/>
          <p:cNvSpPr/>
          <p:nvPr/>
        </p:nvSpPr>
        <p:spPr>
          <a:xfrm>
            <a:off x="1088136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26.08.2026</a:t>
            </a:r>
            <a:endParaRPr lang="en-US" sz="78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8FBEA7">
              <a:alpha val="70000"/>
            </a:srgbClr>
          </a:solidFill>
          <a:ln w="12700">
            <a:solidFill>
              <a:srgbClr val="0E6B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" y="411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EIGENTÜMER-APP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20700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 Zuhause wird steuerbar.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Mobile Screens passend zugeschnitten: nur echte Viewports, keine endlosen Screenshots.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773168" y="877824"/>
            <a:ext cx="1627632" cy="3410712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330952" y="100584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0" name="Image 0" descr="presentation/ceo-assets/owner-hom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46320" y="1124712"/>
            <a:ext cx="1481328" cy="29535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4818888" y="43251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629400" y="877824"/>
            <a:ext cx="1627632" cy="3410712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187184" y="100584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4" name="Image 1" descr="presentation/ceo-assets/owner-hausmeister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2552" y="1124712"/>
            <a:ext cx="1481328" cy="295351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675120" y="43251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Hausmeister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8485632" y="877824"/>
            <a:ext cx="1627632" cy="3410712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043416" y="100584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8" name="Image 2" descr="presentation/ceo-assets/owner-hausakte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8784" y="1124712"/>
            <a:ext cx="1481328" cy="295351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531352" y="43251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Hausakte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10341864" y="877824"/>
            <a:ext cx="1627632" cy="3410712"/>
          </a:xfrm>
          <a:prstGeom prst="roundRect">
            <a:avLst>
              <a:gd name="adj" fmla="val 15730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0899648" y="100584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22" name="Image 3" descr="presentation/ceo-assets/owner-tarife-1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15016" y="1124712"/>
            <a:ext cx="1481328" cy="295351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387584" y="4325112"/>
            <a:ext cx="1536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Tarife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658368" y="3977640"/>
            <a:ext cx="3840480" cy="1143000"/>
          </a:xfrm>
          <a:prstGeom prst="roundRect">
            <a:avLst>
              <a:gd name="adj" fmla="val 10400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59536" y="4133088"/>
            <a:ext cx="343814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Story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59536" y="4434840"/>
            <a:ext cx="343814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Eigentümer bekommt erst Orientierung, dann direkte Hilfe, dann dauerhafte Akte und Tariflogik.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651052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· einfachhausen.de · GitHub/Production: 3a8aa93 · Health: ok / database ready</a:t>
            </a:r>
            <a:endParaRPr lang="en-US" sz="780" dirty="0"/>
          </a:p>
        </p:txBody>
      </p:sp>
      <p:sp>
        <p:nvSpPr>
          <p:cNvPr id="28" name="Text 22"/>
          <p:cNvSpPr/>
          <p:nvPr/>
        </p:nvSpPr>
        <p:spPr>
          <a:xfrm>
            <a:off x="1088136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26.08.2026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8FBEA7">
              <a:alpha val="70000"/>
            </a:srgbClr>
          </a:solidFill>
          <a:ln w="12700">
            <a:solidFill>
              <a:srgbClr val="0E6B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" y="411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EIGENTÜMER-APP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20700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Hausmeister: Anliegen ohne Reibung erfassen.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Kern ist nicht ein Formular, sondern ein beruhigender Service-Dialog.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367528" y="923544"/>
            <a:ext cx="1810512" cy="3803904"/>
          </a:xfrm>
          <a:prstGeom prst="roundRect">
            <a:avLst>
              <a:gd name="adj" fmla="val 14141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16752" y="105156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0" name="Image 0" descr="presentation/ceo-assets/owner-hom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170432"/>
            <a:ext cx="1664208" cy="334670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13248" y="47640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452360" y="923544"/>
            <a:ext cx="1810512" cy="3803904"/>
          </a:xfrm>
          <a:prstGeom prst="roundRect">
            <a:avLst>
              <a:gd name="adj" fmla="val 14141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101584" y="105156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4" name="Image 1" descr="presentation/ceo-assets/owner-hausmeister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25512" y="1170432"/>
            <a:ext cx="1664208" cy="334670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498080" y="47640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Anliegen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9537192" y="923544"/>
            <a:ext cx="1810512" cy="3803904"/>
          </a:xfrm>
          <a:prstGeom prst="roundRect">
            <a:avLst>
              <a:gd name="adj" fmla="val 14141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186416" y="105156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8" name="Image 2" descr="presentation/ceo-assets/owner-home-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344" y="1170432"/>
            <a:ext cx="1664208" cy="33467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582912" y="4764024"/>
            <a:ext cx="171907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Nächste Schritte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58368" y="3977640"/>
            <a:ext cx="4160520" cy="960120"/>
          </a:xfrm>
          <a:prstGeom prst="roundRect">
            <a:avLst>
              <a:gd name="adj" fmla="val 12381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59536" y="4133088"/>
            <a:ext cx="37581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Produktprinzip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59536" y="4434840"/>
            <a:ext cx="37581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Kein Auftrag ohne Freigabe. Erst Kontext sammeln, dann sauber entscheiden.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48640" y="651052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· einfachhausen.de · GitHub/Production: 3a8aa93 · Health: ok / database ready</a:t>
            </a:r>
            <a:endParaRPr lang="en-US" sz="780" dirty="0"/>
          </a:p>
        </p:txBody>
      </p:sp>
      <p:sp>
        <p:nvSpPr>
          <p:cNvPr id="24" name="Text 19"/>
          <p:cNvSpPr/>
          <p:nvPr/>
        </p:nvSpPr>
        <p:spPr>
          <a:xfrm>
            <a:off x="1088136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26.08.2026</a:t>
            </a:r>
            <a:endParaRPr lang="en-US" sz="78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8FBEA7">
              <a:alpha val="70000"/>
            </a:srgbClr>
          </a:solidFill>
          <a:ln w="12700">
            <a:solidFill>
              <a:srgbClr val="0E6B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" y="411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EIGENTÜMER-APP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20700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 Hausakte ist der dauerhafte Wertträger.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Technik, Wartung, Dokumente, Historie und Ansprechpartner gehören an einen Ort.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733288" y="786384"/>
            <a:ext cx="1719072" cy="3593592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336792" y="91440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0" name="Image 0" descr="presentation/ceo-assets/owner-hausakte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06440" y="1033272"/>
            <a:ext cx="1572768" cy="313639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779008" y="441655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Akte oben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626096" y="786384"/>
            <a:ext cx="1719072" cy="3593592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229600" y="91440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4" name="Image 1" descr="presentation/ceo-assets/owner-hausakte-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99248" y="1033272"/>
            <a:ext cx="1572768" cy="313639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671816" y="441655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Details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9518904" y="786384"/>
            <a:ext cx="1719072" cy="3593592"/>
          </a:xfrm>
          <a:prstGeom prst="roundRect">
            <a:avLst>
              <a:gd name="adj" fmla="val 14894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122408" y="91440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8" name="Image 2" descr="presentation/ceo-assets/owner-tarife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2056" y="1033272"/>
            <a:ext cx="1572768" cy="313639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564624" y="4416552"/>
            <a:ext cx="162763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Tarife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58368" y="3886200"/>
            <a:ext cx="4389120" cy="11887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59536" y="4041648"/>
            <a:ext cx="39867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CEO-Perspektive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59536" y="4343400"/>
            <a:ext cx="398678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Hier entsteht Bindung: Der Eigentümer bleibt nicht wegen einer App, sondern weil sein Hauswissen dauerhaft gepflegt wird.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48640" y="651052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· einfachhausen.de · GitHub/Production: 3a8aa93 · Health: ok / database ready</a:t>
            </a:r>
            <a:endParaRPr lang="en-US" sz="780" dirty="0"/>
          </a:p>
        </p:txBody>
      </p:sp>
      <p:sp>
        <p:nvSpPr>
          <p:cNvPr id="24" name="Text 19"/>
          <p:cNvSpPr/>
          <p:nvPr/>
        </p:nvSpPr>
        <p:spPr>
          <a:xfrm>
            <a:off x="1088136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26.08.2026</a:t>
            </a:r>
            <a:endParaRPr lang="en-US" sz="7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8FBEA7">
              <a:alpha val="70000"/>
            </a:srgbClr>
          </a:solidFill>
          <a:ln w="12700">
            <a:solidFill>
              <a:srgbClr val="0E6B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" y="411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HANDWERKER-APP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20700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 werden geführt, bevor Aufträge sichtbar sind.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Der aktuelle Live-Zustand zeigt korrekt: ohne Unternehmensprüfung keine operative Freigabe.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458968" y="877824"/>
            <a:ext cx="1773936" cy="3730752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089904" y="100584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0" name="Image 0" descr="presentation/ceo-assets/pro-start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532120" y="1124712"/>
            <a:ext cx="1627632" cy="327355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504688" y="46451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Prüfung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7498080" y="877824"/>
            <a:ext cx="1773936" cy="3730752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129016" y="100584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4" name="Image 1" descr="presentation/ceo-assets/pro-jobs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71232" y="1124712"/>
            <a:ext cx="1627632" cy="3273552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543800" y="46451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Aufträge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9537192" y="877824"/>
            <a:ext cx="1773936" cy="3730752"/>
          </a:xfrm>
          <a:prstGeom prst="roundRect">
            <a:avLst>
              <a:gd name="adj" fmla="val 14433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10168128" y="1005840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8" name="Image 2" descr="presentation/ceo-assets/pro-team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344" y="1124712"/>
            <a:ext cx="1627632" cy="327355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582912" y="4645152"/>
            <a:ext cx="16824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658368" y="3886200"/>
            <a:ext cx="4251960" cy="1097280"/>
          </a:xfrm>
          <a:prstGeom prst="roundRect">
            <a:avLst>
              <a:gd name="adj" fmla="val 10833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859536" y="4041648"/>
            <a:ext cx="38496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Wichtig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859536" y="4343400"/>
            <a:ext cx="384962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 ist gut: Qualität und Vertragsstatus schützen die Plattform, bevor neue Anfragen verteilt werden.</a:t>
            </a:r>
            <a:endParaRPr lang="en-US" sz="1050" dirty="0"/>
          </a:p>
        </p:txBody>
      </p:sp>
      <p:sp>
        <p:nvSpPr>
          <p:cNvPr id="23" name="Text 18"/>
          <p:cNvSpPr/>
          <p:nvPr/>
        </p:nvSpPr>
        <p:spPr>
          <a:xfrm>
            <a:off x="548640" y="651052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· einfachhausen.de · GitHub/Production: 3a8aa93 · Health: ok / database ready</a:t>
            </a:r>
            <a:endParaRPr lang="en-US" sz="780" dirty="0"/>
          </a:p>
        </p:txBody>
      </p:sp>
      <p:sp>
        <p:nvSpPr>
          <p:cNvPr id="24" name="Text 19"/>
          <p:cNvSpPr/>
          <p:nvPr/>
        </p:nvSpPr>
        <p:spPr>
          <a:xfrm>
            <a:off x="1088136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26.08.2026</a:t>
            </a:r>
            <a:endParaRPr lang="en-US" sz="78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8FBEA7">
              <a:alpha val="70000"/>
            </a:srgbClr>
          </a:solidFill>
          <a:ln w="12700">
            <a:solidFill>
              <a:srgbClr val="0E6B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" y="411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HANDWERKER-APP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20700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Operative Oberfläche: Aufträge, Team, Profil.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Diese Screens zeigen den künftigen Arbeitskanal für regionale Partner.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5093208" y="758952"/>
            <a:ext cx="1636776" cy="3419856"/>
          </a:xfrm>
          <a:prstGeom prst="roundRect">
            <a:avLst>
              <a:gd name="adj" fmla="val 15642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655564" y="886968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0" name="Image 0" descr="presentation/ceo-assets/pro-jobs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66360" y="1005840"/>
            <a:ext cx="1490472" cy="2962656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138928" y="421538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Aufträge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6876288" y="758952"/>
            <a:ext cx="1636776" cy="3419856"/>
          </a:xfrm>
          <a:prstGeom prst="roundRect">
            <a:avLst>
              <a:gd name="adj" fmla="val 15642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7438644" y="886968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4" name="Image 1" descr="presentation/ceo-assets/pro-team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9440" y="1005840"/>
            <a:ext cx="1490472" cy="296265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922008" y="421538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</a:t>
            </a:r>
            <a:endParaRPr lang="en-US" sz="850" dirty="0"/>
          </a:p>
        </p:txBody>
      </p:sp>
      <p:sp>
        <p:nvSpPr>
          <p:cNvPr id="16" name="Shape 12"/>
          <p:cNvSpPr/>
          <p:nvPr/>
        </p:nvSpPr>
        <p:spPr>
          <a:xfrm>
            <a:off x="8659368" y="758952"/>
            <a:ext cx="1636776" cy="3419856"/>
          </a:xfrm>
          <a:prstGeom prst="roundRect">
            <a:avLst>
              <a:gd name="adj" fmla="val 15642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221724" y="886968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8" name="Image 2" descr="presentation/ceo-assets/pro-profile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2520" y="1005840"/>
            <a:ext cx="1490472" cy="296265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705088" y="421538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 oben</a:t>
            </a:r>
            <a:endParaRPr lang="en-US" sz="850" dirty="0"/>
          </a:p>
        </p:txBody>
      </p:sp>
      <p:sp>
        <p:nvSpPr>
          <p:cNvPr id="20" name="Shape 15"/>
          <p:cNvSpPr/>
          <p:nvPr/>
        </p:nvSpPr>
        <p:spPr>
          <a:xfrm>
            <a:off x="10442448" y="758952"/>
            <a:ext cx="1636776" cy="3419856"/>
          </a:xfrm>
          <a:prstGeom prst="roundRect">
            <a:avLst>
              <a:gd name="adj" fmla="val 15642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11004804" y="886968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22" name="Image 3" descr="presentation/ceo-assets/pro-profile-2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515600" y="1005840"/>
            <a:ext cx="1490472" cy="296265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0488168" y="4215384"/>
            <a:ext cx="154533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 Details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658368" y="3840480"/>
            <a:ext cx="3977640" cy="1170432"/>
          </a:xfrm>
          <a:prstGeom prst="roundRect">
            <a:avLst>
              <a:gd name="adj" fmla="val 10156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59536" y="3995928"/>
            <a:ext cx="3575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Team-Entscheidung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859536" y="4297680"/>
            <a:ext cx="3575304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Nächster Schritt: Demo-Partnerstatus sauber aktivieren, damit die gleiche Story auch mit befüllten Aufträgen präsentiert werden kann.</a:t>
            </a:r>
            <a:endParaRPr lang="en-US" sz="1050" dirty="0"/>
          </a:p>
        </p:txBody>
      </p:sp>
      <p:sp>
        <p:nvSpPr>
          <p:cNvPr id="27" name="Text 21"/>
          <p:cNvSpPr/>
          <p:nvPr/>
        </p:nvSpPr>
        <p:spPr>
          <a:xfrm>
            <a:off x="548640" y="651052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· einfachhausen.de · GitHub/Production: 3a8aa93 · Health: ok / database ready</a:t>
            </a:r>
            <a:endParaRPr lang="en-US" sz="780" dirty="0"/>
          </a:p>
        </p:txBody>
      </p:sp>
      <p:sp>
        <p:nvSpPr>
          <p:cNvPr id="28" name="Text 22"/>
          <p:cNvSpPr/>
          <p:nvPr/>
        </p:nvSpPr>
        <p:spPr>
          <a:xfrm>
            <a:off x="1088136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26.08.2026</a:t>
            </a:r>
            <a:endParaRPr lang="en-US" sz="78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8FBEA7">
              <a:alpha val="70000"/>
            </a:srgbClr>
          </a:solidFill>
          <a:ln w="12700">
            <a:solidFill>
              <a:srgbClr val="0E6B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" y="411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66928" y="91440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PRODUKTBILD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566928" y="1207008"/>
            <a:ext cx="52120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Drei Oberflächen, ein zusammenhängender Workflow.</a:t>
            </a:r>
            <a:endParaRPr lang="en-US" sz="2900" dirty="0"/>
          </a:p>
        </p:txBody>
      </p:sp>
      <p:sp>
        <p:nvSpPr>
          <p:cNvPr id="7" name="Text 5"/>
          <p:cNvSpPr/>
          <p:nvPr/>
        </p:nvSpPr>
        <p:spPr>
          <a:xfrm>
            <a:off x="585216" y="1883664"/>
            <a:ext cx="4526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 sollte das Team die Plattform erzählen: gewinnen, betreuen, ausführen.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53796" y="2066544"/>
            <a:ext cx="3813048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  <a:effectLst>
            <a:outerShdw sx="100000" sy="100000" kx="0" ky="0" algn="bl" rotWithShape="0" blurRad="12700" dist="50800" dir="2700000">
              <a:srgbClr val="CBD7CE">
                <a:alpha val="2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53796" y="2066544"/>
            <a:ext cx="3813048" cy="274320"/>
          </a:xfrm>
          <a:prstGeom prst="rect">
            <a:avLst/>
          </a:prstGeom>
          <a:solidFill>
            <a:srgbClr val="EFF4E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2130552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E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1435608" y="2121408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</a:t>
            </a:r>
            <a:endParaRPr lang="en-US" sz="780" dirty="0"/>
          </a:p>
        </p:txBody>
      </p:sp>
      <p:pic>
        <p:nvPicPr>
          <p:cNvPr id="12" name="Image 0" descr="presentation/ceo-assets/website-home-her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304288"/>
            <a:ext cx="3749040" cy="2139696"/>
          </a:xfrm>
          <a:prstGeom prst="rect">
            <a:avLst/>
          </a:prstGeom>
        </p:spPr>
      </p:pic>
      <p:sp>
        <p:nvSpPr>
          <p:cNvPr id="13" name="Shape 10"/>
          <p:cNvSpPr/>
          <p:nvPr/>
        </p:nvSpPr>
        <p:spPr>
          <a:xfrm>
            <a:off x="5001768" y="1856232"/>
            <a:ext cx="1517904" cy="2953512"/>
          </a:xfrm>
          <a:prstGeom prst="roundRect">
            <a:avLst>
              <a:gd name="adj" fmla="val 16867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504688" y="1984248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5" name="Image 1" descr="presentation/ceo-assets/owner-hausmeister-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20" y="2103120"/>
            <a:ext cx="1371600" cy="249631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047488" y="48463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Eigentümer</a:t>
            </a:r>
            <a:endParaRPr lang="en-US" sz="850" dirty="0"/>
          </a:p>
        </p:txBody>
      </p:sp>
      <p:sp>
        <p:nvSpPr>
          <p:cNvPr id="17" name="Shape 13"/>
          <p:cNvSpPr/>
          <p:nvPr/>
        </p:nvSpPr>
        <p:spPr>
          <a:xfrm>
            <a:off x="7242048" y="1856232"/>
            <a:ext cx="1517904" cy="2953512"/>
          </a:xfrm>
          <a:prstGeom prst="roundRect">
            <a:avLst>
              <a:gd name="adj" fmla="val 16867"/>
            </a:avLst>
          </a:prstGeom>
          <a:solidFill>
            <a:srgbClr val="FFFFFF"/>
          </a:solidFill>
          <a:ln w="12700">
            <a:solidFill>
              <a:srgbClr val="C7D5CC"/>
            </a:solidFill>
            <a:prstDash val="solid"/>
          </a:ln>
          <a:effectLst>
            <a:outerShdw sx="100000" sy="100000" kx="0" ky="0" algn="bl" rotWithShape="0" blurRad="12700" dist="50800" dir="2700000">
              <a:srgbClr val="B8C8BF">
                <a:alpha val="2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744968" y="1984248"/>
            <a:ext cx="512064" cy="50292"/>
          </a:xfrm>
          <a:prstGeom prst="roundRect">
            <a:avLst>
              <a:gd name="adj" fmla="val 36364"/>
            </a:avLst>
          </a:prstGeom>
          <a:solidFill>
            <a:srgbClr val="D0DAD4"/>
          </a:solidFill>
          <a:ln w="12700">
            <a:solidFill>
              <a:srgbClr val="D0DAD4">
                <a:alpha val="0"/>
              </a:srgbClr>
            </a:solidFill>
            <a:prstDash val="solid"/>
          </a:ln>
        </p:spPr>
      </p:sp>
      <p:pic>
        <p:nvPicPr>
          <p:cNvPr id="19" name="Image 2" descr="presentation/ceo-assets/pro-start-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200" y="2103120"/>
            <a:ext cx="1371600" cy="24963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7287768" y="4846320"/>
            <a:ext cx="142646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Handwerker</a:t>
            </a:r>
            <a:endParaRPr lang="en-US" sz="850" dirty="0"/>
          </a:p>
        </p:txBody>
      </p:sp>
      <p:sp>
        <p:nvSpPr>
          <p:cNvPr id="21" name="Shape 16"/>
          <p:cNvSpPr/>
          <p:nvPr/>
        </p:nvSpPr>
        <p:spPr>
          <a:xfrm>
            <a:off x="4553712" y="3401568"/>
            <a:ext cx="384048" cy="0"/>
          </a:xfrm>
          <a:prstGeom prst="line">
            <a:avLst/>
          </a:prstGeom>
          <a:noFill/>
          <a:ln w="12700">
            <a:solidFill>
              <a:srgbClr val="0E6B45"/>
            </a:solidFill>
            <a:prstDash val="solid"/>
            <a:headEnd type="none"/>
            <a:tailEnd type="triangle"/>
          </a:ln>
        </p:spPr>
      </p:sp>
      <p:sp>
        <p:nvSpPr>
          <p:cNvPr id="22" name="Shape 17"/>
          <p:cNvSpPr/>
          <p:nvPr/>
        </p:nvSpPr>
        <p:spPr>
          <a:xfrm>
            <a:off x="6565392" y="3401568"/>
            <a:ext cx="566928" cy="0"/>
          </a:xfrm>
          <a:prstGeom prst="line">
            <a:avLst/>
          </a:prstGeom>
          <a:noFill/>
          <a:ln w="12700">
            <a:solidFill>
              <a:srgbClr val="0E6B45"/>
            </a:solidFill>
            <a:prstDash val="solid"/>
            <a:headEnd type="none"/>
            <a:tailEnd type="triangle"/>
          </a:ln>
        </p:spPr>
      </p:sp>
      <p:sp>
        <p:nvSpPr>
          <p:cNvPr id="23" name="Shape 18"/>
          <p:cNvSpPr/>
          <p:nvPr/>
        </p:nvSpPr>
        <p:spPr>
          <a:xfrm>
            <a:off x="685800" y="4983480"/>
            <a:ext cx="2834640" cy="71323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886968" y="51389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Gewinnen</a:t>
            </a:r>
            <a:endParaRPr lang="en-US" sz="1300" dirty="0"/>
          </a:p>
        </p:txBody>
      </p:sp>
      <p:sp>
        <p:nvSpPr>
          <p:cNvPr id="25" name="Text 20"/>
          <p:cNvSpPr/>
          <p:nvPr/>
        </p:nvSpPr>
        <p:spPr>
          <a:xfrm>
            <a:off x="886968" y="5440680"/>
            <a:ext cx="2432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erklärt Nutzen und erzeugt Vertrauen.</a:t>
            </a:r>
            <a:endParaRPr lang="en-US" sz="1050" dirty="0"/>
          </a:p>
        </p:txBody>
      </p:sp>
      <p:sp>
        <p:nvSpPr>
          <p:cNvPr id="26" name="Shape 21"/>
          <p:cNvSpPr/>
          <p:nvPr/>
        </p:nvSpPr>
        <p:spPr>
          <a:xfrm>
            <a:off x="4224528" y="4983480"/>
            <a:ext cx="2834640" cy="71323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27" name="Text 22"/>
          <p:cNvSpPr/>
          <p:nvPr/>
        </p:nvSpPr>
        <p:spPr>
          <a:xfrm>
            <a:off x="4425696" y="51389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Betreuen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4425696" y="5440680"/>
            <a:ext cx="2432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 sammelt Anliegen und hält die Hausakte sauber.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7772400" y="4983480"/>
            <a:ext cx="2834640" cy="713232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30" name="Text 25"/>
          <p:cNvSpPr/>
          <p:nvPr/>
        </p:nvSpPr>
        <p:spPr>
          <a:xfrm>
            <a:off x="7973568" y="5138928"/>
            <a:ext cx="24323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Ausführen</a:t>
            </a:r>
            <a:endParaRPr lang="en-US" sz="1300" dirty="0"/>
          </a:p>
        </p:txBody>
      </p:sp>
      <p:sp>
        <p:nvSpPr>
          <p:cNvPr id="31" name="Text 26"/>
          <p:cNvSpPr/>
          <p:nvPr/>
        </p:nvSpPr>
        <p:spPr>
          <a:xfrm>
            <a:off x="7973568" y="5440680"/>
            <a:ext cx="243230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Partnerkanal steuert Prüfung, Teams und Aufträge.</a:t>
            </a:r>
            <a:endParaRPr lang="en-US" sz="1050" dirty="0"/>
          </a:p>
        </p:txBody>
      </p:sp>
      <p:sp>
        <p:nvSpPr>
          <p:cNvPr id="32" name="Text 27"/>
          <p:cNvSpPr/>
          <p:nvPr/>
        </p:nvSpPr>
        <p:spPr>
          <a:xfrm>
            <a:off x="548640" y="651052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· einfachhausen.de · GitHub/Production: 3a8aa93 · Health: ok / database ready</a:t>
            </a:r>
            <a:endParaRPr lang="en-US" sz="780" dirty="0"/>
          </a:p>
        </p:txBody>
      </p:sp>
      <p:sp>
        <p:nvSpPr>
          <p:cNvPr id="33" name="Text 28"/>
          <p:cNvSpPr/>
          <p:nvPr/>
        </p:nvSpPr>
        <p:spPr>
          <a:xfrm>
            <a:off x="1088136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26.08.2026</a:t>
            </a:r>
            <a:endParaRPr lang="en-US" sz="78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30352" y="384048"/>
            <a:ext cx="301752" cy="301752"/>
          </a:xfrm>
          <a:prstGeom prst="roundRect">
            <a:avLst>
              <a:gd name="adj" fmla="val 15152"/>
            </a:avLst>
          </a:prstGeom>
          <a:solidFill>
            <a:srgbClr val="8FBEA7">
              <a:alpha val="70000"/>
            </a:srgbClr>
          </a:solidFill>
          <a:ln w="12700">
            <a:solidFill>
              <a:srgbClr val="0E6B45">
                <a:alpha val="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66928" y="393192"/>
            <a:ext cx="219456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⌂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96112" y="411480"/>
            <a:ext cx="1417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einfachhausen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85216" y="1005840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E6B4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NÄCHSTER TEAM-BLICK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66928" y="1389888"/>
            <a:ext cx="452628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Jetzt von Screens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zu Entscheidungen.</a:t>
            </a:r>
            <a:endParaRPr lang="en-US" sz="3400" dirty="0"/>
          </a:p>
        </p:txBody>
      </p:sp>
      <p:sp>
        <p:nvSpPr>
          <p:cNvPr id="7" name="Shape 5"/>
          <p:cNvSpPr/>
          <p:nvPr/>
        </p:nvSpPr>
        <p:spPr>
          <a:xfrm>
            <a:off x="685800" y="2971800"/>
            <a:ext cx="333756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86968" y="3127248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· Demo-Accounts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86968" y="34290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Eigentümer- und Handwerker-Demo gezielt befüllen, damit Präsentationen nicht leer wirken.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2971800"/>
            <a:ext cx="333756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90288" y="3127248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 · Live-Ablauf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590288" y="34290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Website → Anfrage → Eigentümer-App → Partnerprüfung als End-to-End-Story testen.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92440" y="2971800"/>
            <a:ext cx="3337560" cy="868680"/>
          </a:xfrm>
          <a:prstGeom prst="roundRect">
            <a:avLst>
              <a:gd name="adj" fmla="val 13684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93608" y="3127248"/>
            <a:ext cx="293522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61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 · Pitch-Version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93608" y="3429000"/>
            <a:ext cx="29352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Für externe Termine eine zweite, schlankere Version mit 6 Folien ableiten.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820156" y="4105656"/>
            <a:ext cx="5321808" cy="1856232"/>
          </a:xfrm>
          <a:prstGeom prst="roundRect">
            <a:avLst>
              <a:gd name="adj" fmla="val 5911"/>
            </a:avLst>
          </a:prstGeom>
          <a:solidFill>
            <a:srgbClr val="FFFFFF"/>
          </a:solidFill>
          <a:ln w="12700">
            <a:solidFill>
              <a:srgbClr val="DCE7DE"/>
            </a:solidFill>
            <a:prstDash val="solid"/>
          </a:ln>
          <a:effectLst>
            <a:outerShdw sx="100000" sy="100000" kx="0" ky="0" algn="bl" rotWithShape="0" blurRad="12700" dist="50800" dir="2700000">
              <a:srgbClr val="CBD7CE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20156" y="4105656"/>
            <a:ext cx="5321808" cy="274320"/>
          </a:xfrm>
          <a:prstGeom prst="rect">
            <a:avLst/>
          </a:prstGeom>
          <a:solidFill>
            <a:srgbClr val="EFF4EF"/>
          </a:solidFill>
          <a:ln w="12700">
            <a:solidFill>
              <a:srgbClr val="DCE7D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61888" y="4169664"/>
            <a:ext cx="5943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00" dirty="0">
                <a:solidFill>
                  <a:srgbClr val="AEB9B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●  ●  ●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601968" y="4160520"/>
            <a:ext cx="21945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5F6B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Ausblick</a:t>
            </a:r>
            <a:endParaRPr lang="en-US" sz="780" dirty="0"/>
          </a:p>
        </p:txBody>
      </p:sp>
      <p:pic>
        <p:nvPicPr>
          <p:cNvPr id="20" name="Image 0" descr="presentation/ceo-assets/website-home-proces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52160" y="4343400"/>
            <a:ext cx="5257800" cy="1572768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548640" y="6510528"/>
            <a:ext cx="89611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· einfachhausen.de · GitHub/Production: 3a8aa93 · Health: ok / database ready</a:t>
            </a:r>
            <a:endParaRPr lang="en-US" sz="780" dirty="0"/>
          </a:p>
        </p:txBody>
      </p:sp>
      <p:sp>
        <p:nvSpPr>
          <p:cNvPr id="22" name="Text 19"/>
          <p:cNvSpPr/>
          <p:nvPr/>
        </p:nvSpPr>
        <p:spPr>
          <a:xfrm>
            <a:off x="10881360" y="6510528"/>
            <a:ext cx="8229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80" dirty="0">
                <a:solidFill>
                  <a:srgbClr val="78908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26.08.2026</a:t>
            </a:r>
            <a:endParaRPr lang="en-US" sz="78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Einfachhausen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Einfachhausen Live Showcase</dc:title>
  <dc:subject>Live Showcase</dc:subject>
  <dc:creator>Einfachhausen</dc:creator>
  <cp:lastModifiedBy>Einfachhausen</cp:lastModifiedBy>
  <cp:revision>1</cp:revision>
  <dcterms:created xsi:type="dcterms:W3CDTF">2026-08-26T02:19:34Z</dcterms:created>
  <dcterms:modified xsi:type="dcterms:W3CDTF">2026-08-26T02:19:34Z</dcterms:modified>
</cp:coreProperties>
</file>