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ED"/>
          </a:solidFill>
          <a:ln w="12700">
            <a:solidFill>
              <a:srgbClr val="EEF5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754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einfachhausen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30352" y="123444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Produktstand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0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· Eigentümer-App · Handwerker-App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3957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Produktionsstand: GitHub/OCI main 3a8aa93 · Healthcheck ok · Datenbank ready</a:t>
            </a:r>
            <a:endParaRPr lang="en-US" sz="1200" dirty="0"/>
          </a:p>
        </p:txBody>
      </p:sp>
      <p:pic>
        <p:nvPicPr>
          <p:cNvPr id="7" name="Image 0" descr="presentation/professional-assets/web_home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85800"/>
            <a:ext cx="5989320" cy="43708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05272" y="667512"/>
            <a:ext cx="6025896" cy="4407408"/>
          </a:xfrm>
          <a:prstGeom prst="roundRect">
            <a:avLst>
              <a:gd name="adj" fmla="val 166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D6C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B5B5B5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50976" y="2990088"/>
            <a:ext cx="1792224" cy="3712464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AD9D2"/>
            </a:solidFill>
            <a:prstDash val="solid"/>
          </a:ln>
          <a:effectLst>
            <a:outerShdw sx="100000" sy="100000" kx="0" ky="0" algn="bl" rotWithShape="0" blurRad="25400" dist="50800" dir="2700000">
              <a:srgbClr val="7A7A7A">
                <a:alpha val="13000"/>
              </a:srgbClr>
            </a:outerShdw>
          </a:effectLst>
        </p:spPr>
      </p:sp>
      <p:pic>
        <p:nvPicPr>
          <p:cNvPr id="10" name="Image 1" descr="presentation/professional-assets/owner_home_t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063240"/>
            <a:ext cx="1645920" cy="3566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07208" y="2990088"/>
            <a:ext cx="1792224" cy="3712464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AD9D2"/>
            </a:solidFill>
            <a:prstDash val="solid"/>
          </a:ln>
          <a:effectLst>
            <a:outerShdw sx="100000" sy="100000" kx="0" ky="0" algn="bl" rotWithShape="0" blurRad="25400" dist="50800" dir="2700000">
              <a:srgbClr val="7A7A7A">
                <a:alpha val="13000"/>
              </a:srgbClr>
            </a:outerShdw>
          </a:effectLst>
        </p:spPr>
      </p:sp>
      <p:pic>
        <p:nvPicPr>
          <p:cNvPr id="12" name="Image 2" descr="presentation/professional-assets/pro_star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3063240"/>
            <a:ext cx="1645920" cy="35661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66928" y="6053328"/>
            <a:ext cx="2057400" cy="329184"/>
          </a:xfrm>
          <a:prstGeom prst="roundRect">
            <a:avLst>
              <a:gd name="adj" fmla="val 16667"/>
            </a:avLst>
          </a:prstGeom>
          <a:solidFill>
            <a:srgbClr val="117344"/>
          </a:solidFill>
          <a:ln w="12700">
            <a:solidFill>
              <a:srgbClr val="11734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0080" y="608076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CAPTURE · 26.08.2026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ree surfaces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b="1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Drei Oberflächen – ein Serviceversprechen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Aktuelle Live-Screenshots aus Produktion</a:t>
            </a:r>
            <a:endParaRPr lang="en-US" sz="1000" dirty="0"/>
          </a:p>
        </p:txBody>
      </p:sp>
      <p:pic>
        <p:nvPicPr>
          <p:cNvPr id="4" name="Image 0" descr="presentation/professional-assets/web_home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43000"/>
            <a:ext cx="4663440" cy="34015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124712"/>
            <a:ext cx="4700016" cy="3438144"/>
          </a:xfrm>
          <a:prstGeom prst="roundRect">
            <a:avLst>
              <a:gd name="adj" fmla="val 2128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D6C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B5B5B5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50408" y="1069848"/>
            <a:ext cx="1883664" cy="39136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12700">
            <a:solidFill>
              <a:srgbClr val="DAD9D2"/>
            </a:solidFill>
            <a:prstDash val="solid"/>
          </a:ln>
          <a:effectLst>
            <a:outerShdw sx="100000" sy="100000" kx="0" ky="0" algn="bl" rotWithShape="0" blurRad="25400" dist="50800" dir="2700000">
              <a:srgbClr val="7A7A7A">
                <a:alpha val="13000"/>
              </a:srgbClr>
            </a:outerShdw>
          </a:effectLst>
        </p:spPr>
      </p:sp>
      <p:pic>
        <p:nvPicPr>
          <p:cNvPr id="7" name="Image 1" descr="presentation/professional-assets/owner_concierg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143000"/>
            <a:ext cx="1737360" cy="37673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44968" y="1069848"/>
            <a:ext cx="1883664" cy="39136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12700">
            <a:solidFill>
              <a:srgbClr val="DAD9D2"/>
            </a:solidFill>
            <a:prstDash val="solid"/>
          </a:ln>
          <a:effectLst>
            <a:outerShdw sx="100000" sy="100000" kx="0" ky="0" algn="bl" rotWithShape="0" blurRad="25400" dist="50800" dir="2700000">
              <a:srgbClr val="7A7A7A">
                <a:alpha val="13000"/>
              </a:srgbClr>
            </a:outerShdw>
          </a:effectLst>
        </p:spPr>
      </p:sp>
      <p:pic>
        <p:nvPicPr>
          <p:cNvPr id="9" name="Image 2" descr="presentation/professional-assets/pro_star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1737360" cy="37673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792" y="4800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Webseite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621792" y="51755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60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Akquise, Vertrauen und Einstieg in das Haus-Service-Erlebnis.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623560" y="5074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Eigentümer-App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5623560" y="544068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60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Hausmeister, Hausakte, Tarife und Kontaktwege.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818120" y="5074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Handwerker-App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818120" y="544068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60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Partnerstatus, Aufträge, Team und Profil.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21792" y="612648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Teamfokus: heute nicht Pixel zählen – sondern sehen, ob das Produkt den Ablauf verständlich verkauft.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ebsite - Einstieg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b="1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Website: Einstieg, Vertrauen, Handlung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öffentliche Auftritt muss in Sekunden erklären: was passiert hier und warum ist es sicher.</a:t>
            </a:r>
            <a:endParaRPr lang="en-US" sz="1000" dirty="0"/>
          </a:p>
        </p:txBody>
      </p:sp>
      <p:pic>
        <p:nvPicPr>
          <p:cNvPr id="4" name="Image 0" descr="presentation/professional-assets/web_home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658368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" y="1124712"/>
            <a:ext cx="6620256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D6C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B5B5B5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43800" y="1234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00" b="1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schon stark ist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43800" y="1773936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Klare Positionierung „Dein Zuhause. Wir kümmern uns.“</a:t>
            </a:r>
            <a:endParaRPr lang="en-US" sz="1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Große Einstiegsflächen für Servicefälle</a:t>
            </a:r>
            <a:endParaRPr lang="en-US" sz="1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Ruhige, vertrauenswürdige visuelle Sprache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543800" y="3273552"/>
            <a:ext cx="3474720" cy="0"/>
          </a:xfrm>
          <a:prstGeom prst="line">
            <a:avLst/>
          </a:prstGeom>
          <a:noFill/>
          <a:ln w="12700">
            <a:solidFill>
              <a:srgbClr val="D7D6C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CEO-Punkt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43800" y="3913632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0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Webseite muss stärker in “so einfach startet es” führen – der Übergang zur App sollte als nächster Schritt noch offensichtlicher wirken.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ebsite - System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b="1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Website: Leistung + Ablauf zusammenführen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Kunden brauchen keine Feature-Liste, sondern einen sicheren Weg vom Problem zur Lösung.</a:t>
            </a:r>
            <a:endParaRPr lang="en-US" sz="1000" dirty="0"/>
          </a:p>
        </p:txBody>
      </p:sp>
      <p:pic>
        <p:nvPicPr>
          <p:cNvPr id="4" name="Image 0" descr="presentation/professional-assets/web_services_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24128"/>
            <a:ext cx="544068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" y="1005840"/>
            <a:ext cx="5477256" cy="4379976"/>
          </a:xfrm>
          <a:prstGeom prst="roundRect">
            <a:avLst>
              <a:gd name="adj" fmla="val 167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D6C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B5B5B5">
                <a:alpha val="18000"/>
              </a:srgbClr>
            </a:outerShdw>
          </a:effectLst>
        </p:spPr>
      </p:sp>
      <p:pic>
        <p:nvPicPr>
          <p:cNvPr id="6" name="Image 1" descr="presentation/professional-assets/web_workflow_step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024128"/>
            <a:ext cx="5074920" cy="4343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36792" y="1005840"/>
            <a:ext cx="5111496" cy="4379976"/>
          </a:xfrm>
          <a:prstGeom prst="roundRect">
            <a:avLst>
              <a:gd name="adj" fmla="val 167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D6C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B5B5B5">
                <a:alpha val="1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58368" y="5623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Empfehlung für die Vorstellung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58368" y="5989320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Zeige zuerst den konkreten Nutzen, dann den Ablauf. Die Seite wird dadurch vom Prospekt zur Vertrauensstrecke.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igentümer App - Hausmeister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b="1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Eigentümer-App: Der Hausmeister ist der Einstieg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 Kernprinzip ist richtig: erst Anliegen klären, dann Auftrag nur mit Freigabe.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95528" y="1069848"/>
            <a:ext cx="2066544" cy="4306824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DAD9D2"/>
            </a:solidFill>
            <a:prstDash val="solid"/>
          </a:ln>
          <a:effectLst>
            <a:outerShdw sx="100000" sy="100000" kx="0" ky="0" algn="bl" rotWithShape="0" blurRad="25400" dist="50800" dir="2700000">
              <a:srgbClr val="7A7A7A">
                <a:alpha val="13000"/>
              </a:srgbClr>
            </a:outerShdw>
          </a:effectLst>
        </p:spPr>
      </p:sp>
      <p:pic>
        <p:nvPicPr>
          <p:cNvPr id="5" name="Image 0" descr="presentation/professional-assets/owner_home_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19202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081528" y="1069848"/>
            <a:ext cx="2066544" cy="4306824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DAD9D2"/>
            </a:solidFill>
            <a:prstDash val="solid"/>
          </a:ln>
          <a:effectLst>
            <a:outerShdw sx="100000" sy="100000" kx="0" ky="0" algn="bl" rotWithShape="0" blurRad="25400" dist="50800" dir="2700000">
              <a:srgbClr val="7A7A7A">
                <a:alpha val="13000"/>
              </a:srgbClr>
            </a:outerShdw>
          </a:effectLst>
        </p:spPr>
      </p:sp>
      <p:pic>
        <p:nvPicPr>
          <p:cNvPr id="7" name="Image 1" descr="presentation/professional-assets/owner_concierg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143000"/>
            <a:ext cx="1920240" cy="4160520"/>
          </a:xfrm>
          <a:prstGeom prst="rect">
            <a:avLst/>
          </a:prstGeom>
        </p:spPr>
      </p:pic>
      <p:pic>
        <p:nvPicPr>
          <p:cNvPr id="8" name="Image 2" descr="presentation/professional-assets/owner_home_nex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143000"/>
            <a:ext cx="4983480" cy="327355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879592" y="1124712"/>
            <a:ext cx="5020056" cy="3310128"/>
          </a:xfrm>
          <a:prstGeom prst="roundRect">
            <a:avLst>
              <a:gd name="adj" fmla="val 221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D6C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B5B5B5">
                <a:alpha val="18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5943600" y="4800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00" b="1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das präsentationsfähig ist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943600" y="532180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Niedrige Einstiegshürde: schreiben, sprechen oder Foto</a:t>
            </a:r>
            <a:endParaRPr lang="en-US" sz="1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Sicherheitsversprechen: kein Auftrag ohne Freigabe</a:t>
            </a:r>
            <a:endParaRPr lang="en-US" sz="1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Nächster Schritt: Hausakte als dauerhafter Kontext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igentümer App - Hausakte Tarife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b="1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Eigentümer-App: Hausakte und Tarife machen das Modell greifbar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Nicht nur Chat – sondern ein dauerhaftes Zuhause-Dashboard.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76656" y="1069848"/>
            <a:ext cx="1929384" cy="4014216"/>
          </a:xfrm>
          <a:prstGeom prst="roundRect">
            <a:avLst>
              <a:gd name="adj" fmla="val 8531"/>
            </a:avLst>
          </a:prstGeom>
          <a:solidFill>
            <a:srgbClr val="FFFFFF"/>
          </a:solidFill>
          <a:ln w="12700">
            <a:solidFill>
              <a:srgbClr val="DAD9D2"/>
            </a:solidFill>
            <a:prstDash val="solid"/>
          </a:ln>
          <a:effectLst>
            <a:outerShdw sx="100000" sy="100000" kx="0" ky="0" algn="bl" rotWithShape="0" blurRad="25400" dist="50800" dir="2700000">
              <a:srgbClr val="7A7A7A">
                <a:alpha val="13000"/>
              </a:srgbClr>
            </a:outerShdw>
          </a:effectLst>
        </p:spPr>
      </p:sp>
      <p:pic>
        <p:nvPicPr>
          <p:cNvPr id="5" name="Image 0" descr="presentation/professional-assets/owner_house_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143000"/>
            <a:ext cx="1783080" cy="3867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0" y="1069848"/>
            <a:ext cx="1929384" cy="4014216"/>
          </a:xfrm>
          <a:prstGeom prst="roundRect">
            <a:avLst>
              <a:gd name="adj" fmla="val 8531"/>
            </a:avLst>
          </a:prstGeom>
          <a:solidFill>
            <a:srgbClr val="FFFFFF"/>
          </a:solidFill>
          <a:ln w="12700">
            <a:solidFill>
              <a:srgbClr val="DAD9D2"/>
            </a:solidFill>
            <a:prstDash val="solid"/>
          </a:ln>
          <a:effectLst>
            <a:outerShdw sx="100000" sy="100000" kx="0" ky="0" algn="bl" rotWithShape="0" blurRad="25400" dist="50800" dir="2700000">
              <a:srgbClr val="7A7A7A">
                <a:alpha val="13000"/>
              </a:srgbClr>
            </a:outerShdw>
          </a:effectLst>
        </p:spPr>
      </p:sp>
      <p:pic>
        <p:nvPicPr>
          <p:cNvPr id="7" name="Image 1" descr="presentation/professional-assets/owner_house_doc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143000"/>
            <a:ext cx="1783080" cy="38679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809744" y="1069848"/>
            <a:ext cx="1929384" cy="4014216"/>
          </a:xfrm>
          <a:prstGeom prst="roundRect">
            <a:avLst>
              <a:gd name="adj" fmla="val 8531"/>
            </a:avLst>
          </a:prstGeom>
          <a:solidFill>
            <a:srgbClr val="FFFFFF"/>
          </a:solidFill>
          <a:ln w="12700">
            <a:solidFill>
              <a:srgbClr val="DAD9D2"/>
            </a:solidFill>
            <a:prstDash val="solid"/>
          </a:ln>
          <a:effectLst>
            <a:outerShdw sx="100000" sy="100000" kx="0" ky="0" algn="bl" rotWithShape="0" blurRad="25400" dist="50800" dir="2700000">
              <a:srgbClr val="7A7A7A">
                <a:alpha val="13000"/>
              </a:srgbClr>
            </a:outerShdw>
          </a:effectLst>
        </p:spPr>
      </p:sp>
      <p:pic>
        <p:nvPicPr>
          <p:cNvPr id="9" name="Image 2" descr="presentation/professional-assets/owner_tariffs_to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1143000"/>
            <a:ext cx="1783080" cy="386791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876288" y="1069848"/>
            <a:ext cx="1929384" cy="4014216"/>
          </a:xfrm>
          <a:prstGeom prst="roundRect">
            <a:avLst>
              <a:gd name="adj" fmla="val 8531"/>
            </a:avLst>
          </a:prstGeom>
          <a:solidFill>
            <a:srgbClr val="FFFFFF"/>
          </a:solidFill>
          <a:ln w="12700">
            <a:solidFill>
              <a:srgbClr val="DAD9D2"/>
            </a:solidFill>
            <a:prstDash val="solid"/>
          </a:ln>
          <a:effectLst>
            <a:outerShdw sx="100000" sy="100000" kx="0" ky="0" algn="bl" rotWithShape="0" blurRad="25400" dist="50800" dir="2700000">
              <a:srgbClr val="7A7A7A">
                <a:alpha val="13000"/>
              </a:srgbClr>
            </a:outerShdw>
          </a:effectLst>
        </p:spPr>
      </p:sp>
      <p:pic>
        <p:nvPicPr>
          <p:cNvPr id="11" name="Image 3" descr="presentation/professional-assets/owner_tariffs_plan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143000"/>
            <a:ext cx="1783080" cy="38679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491472" y="1097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Team-Story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9491472" y="1618488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App verkauft nicht einzelne Tickets, sondern laufende Betreuung: Hausdaten, Dokumente, Service-Level und konkrete Ansprechpartner.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9491472" y="39776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B88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Schnittbedarf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9491472" y="4343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60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Für Sales sollten Hausakte und Tariflogik als zwei separate, kurze Demo-Pfade gezeigt werden.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andwerker App - Status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b="1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Handwerker-App: Partnerzugang bewusst kontrolliert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Live-Status zeigt realen Produktionsablauf: neue Partner sehen erst Prüfung und Vertrag.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95528" y="1069848"/>
            <a:ext cx="2066544" cy="4306824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DAD9D2"/>
            </a:solidFill>
            <a:prstDash val="solid"/>
          </a:ln>
          <a:effectLst>
            <a:outerShdw sx="100000" sy="100000" kx="0" ky="0" algn="bl" rotWithShape="0" blurRad="25400" dist="50800" dir="2700000">
              <a:srgbClr val="7A7A7A">
                <a:alpha val="13000"/>
              </a:srgbClr>
            </a:outerShdw>
          </a:effectLst>
        </p:spPr>
      </p:sp>
      <p:pic>
        <p:nvPicPr>
          <p:cNvPr id="5" name="Image 0" descr="presentation/professional-assets/pro_st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1920240" cy="4160520"/>
          </a:xfrm>
          <a:prstGeom prst="rect">
            <a:avLst/>
          </a:prstGeom>
        </p:spPr>
      </p:pic>
      <p:pic>
        <p:nvPicPr>
          <p:cNvPr id="6" name="Image 1" descr="presentation/professional-assets/pro_profile_t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43000"/>
            <a:ext cx="2743200" cy="3611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02152" y="1124712"/>
            <a:ext cx="2779776" cy="3648456"/>
          </a:xfrm>
          <a:prstGeom prst="roundRect">
            <a:avLst>
              <a:gd name="adj" fmla="val 2632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D6C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B5B5B5">
                <a:alpha val="1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720840" y="1143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 ist kein Fehler, sondern Governance</a:t>
            </a:r>
            <a:endParaRPr lang="en-US" sz="2500" dirty="0"/>
          </a:p>
        </p:txBody>
      </p:sp>
      <p:sp>
        <p:nvSpPr>
          <p:cNvPr id="9" name="Text 5"/>
          <p:cNvSpPr/>
          <p:nvPr/>
        </p:nvSpPr>
        <p:spPr>
          <a:xfrm>
            <a:off x="6720840" y="17830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Bevor Aufträge sichtbar werden, muss der Partnerstatus vollständig aktiv sein. Das schützt Kunden, Qualität und Haftung.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720840" y="3246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Präsentationsformulierung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720840" y="359359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0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„Wir öffnen den Marktplatz nicht blind. Jeder regionale Partner läuft über Prüfung, Vertrag und Profilqualität.“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andwerker App - Workspace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b="1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Handwerker-App: Von Aufträgen bis Teamverwaltung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App ist als Arbeitsoberfläche angelegt, nicht als reine Benachrichtigungsliste.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929384" cy="4014216"/>
          </a:xfrm>
          <a:prstGeom prst="roundRect">
            <a:avLst>
              <a:gd name="adj" fmla="val 8531"/>
            </a:avLst>
          </a:prstGeom>
          <a:solidFill>
            <a:srgbClr val="FFFFFF"/>
          </a:solidFill>
          <a:ln w="12700">
            <a:solidFill>
              <a:srgbClr val="DAD9D2"/>
            </a:solidFill>
            <a:prstDash val="solid"/>
          </a:ln>
          <a:effectLst>
            <a:outerShdw sx="100000" sy="100000" kx="0" ky="0" algn="bl" rotWithShape="0" blurRad="25400" dist="50800" dir="2700000">
              <a:srgbClr val="7A7A7A">
                <a:alpha val="13000"/>
              </a:srgbClr>
            </a:outerShdw>
          </a:effectLst>
        </p:spPr>
      </p:sp>
      <p:pic>
        <p:nvPicPr>
          <p:cNvPr id="5" name="Image 0" descr="presentation/professional-assets/pro_orde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1783080" cy="3867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688336" y="1069848"/>
            <a:ext cx="1929384" cy="4014216"/>
          </a:xfrm>
          <a:prstGeom prst="roundRect">
            <a:avLst>
              <a:gd name="adj" fmla="val 8531"/>
            </a:avLst>
          </a:prstGeom>
          <a:solidFill>
            <a:srgbClr val="FFFFFF"/>
          </a:solidFill>
          <a:ln w="12700">
            <a:solidFill>
              <a:srgbClr val="DAD9D2"/>
            </a:solidFill>
            <a:prstDash val="solid"/>
          </a:ln>
          <a:effectLst>
            <a:outerShdw sx="100000" sy="100000" kx="0" ky="0" algn="bl" rotWithShape="0" blurRad="25400" dist="50800" dir="2700000">
              <a:srgbClr val="7A7A7A">
                <a:alpha val="13000"/>
              </a:srgbClr>
            </a:outerShdw>
          </a:effectLst>
        </p:spPr>
      </p:sp>
      <p:pic>
        <p:nvPicPr>
          <p:cNvPr id="7" name="Image 1" descr="presentation/professional-assets/pro_team_t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1143000"/>
            <a:ext cx="1783080" cy="38679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18304" y="1069848"/>
            <a:ext cx="1929384" cy="4014216"/>
          </a:xfrm>
          <a:prstGeom prst="roundRect">
            <a:avLst>
              <a:gd name="adj" fmla="val 8531"/>
            </a:avLst>
          </a:prstGeom>
          <a:solidFill>
            <a:srgbClr val="FFFFFF"/>
          </a:solidFill>
          <a:ln w="12700">
            <a:solidFill>
              <a:srgbClr val="DAD9D2"/>
            </a:solidFill>
            <a:prstDash val="solid"/>
          </a:ln>
          <a:effectLst>
            <a:outerShdw sx="100000" sy="100000" kx="0" ky="0" algn="bl" rotWithShape="0" blurRad="25400" dist="50800" dir="2700000">
              <a:srgbClr val="7A7A7A">
                <a:alpha val="13000"/>
              </a:srgbClr>
            </a:outerShdw>
          </a:effectLst>
        </p:spPr>
      </p:sp>
      <p:pic>
        <p:nvPicPr>
          <p:cNvPr id="9" name="Image 2" descr="presentation/professional-assets/pro_team_lis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143000"/>
            <a:ext cx="1783080" cy="386791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748272" y="1069848"/>
            <a:ext cx="1929384" cy="4014216"/>
          </a:xfrm>
          <a:prstGeom prst="roundRect">
            <a:avLst>
              <a:gd name="adj" fmla="val 8531"/>
            </a:avLst>
          </a:prstGeom>
          <a:solidFill>
            <a:srgbClr val="FFFFFF"/>
          </a:solidFill>
          <a:ln w="12700">
            <a:solidFill>
              <a:srgbClr val="DAD9D2"/>
            </a:solidFill>
            <a:prstDash val="solid"/>
          </a:ln>
          <a:effectLst>
            <a:outerShdw sx="100000" sy="100000" kx="0" ky="0" algn="bl" rotWithShape="0" blurRad="25400" dist="50800" dir="2700000">
              <a:srgbClr val="7A7A7A">
                <a:alpha val="13000"/>
              </a:srgbClr>
            </a:outerShdw>
          </a:effectLst>
        </p:spPr>
      </p:sp>
      <p:pic>
        <p:nvPicPr>
          <p:cNvPr id="11" name="Image 3" descr="presentation/professional-assets/pro_profile_company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1143000"/>
            <a:ext cx="1783080" cy="38679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217152" y="106984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das Team verstehen soll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9217152" y="1874520"/>
            <a:ext cx="22677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Aufträge, Nachrichten, Team und Profil sind die vier operativen Säulen für Partner. Der aktuell sichtbare Prüfstatus verhindert falsche Erwartungen im Demo-Flow.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9217152" y="4791456"/>
            <a:ext cx="2084832" cy="347472"/>
          </a:xfrm>
          <a:prstGeom prst="roundRect">
            <a:avLst>
              <a:gd name="adj" fmla="val 15789"/>
            </a:avLst>
          </a:prstGeom>
          <a:solidFill>
            <a:srgbClr val="117344"/>
          </a:solidFill>
          <a:ln w="12700">
            <a:solidFill>
              <a:srgbClr val="117344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9290304" y="481888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OPERATIVER WORKFLOW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EO Narrative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b="1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CEO-Narrativ für das Teammeeting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sollte die Vorstellung klingen: Produktlogik vor Feature-Fülle.</a:t>
            </a:r>
            <a:endParaRPr lang="en-US" sz="1000" dirty="0"/>
          </a:p>
        </p:txBody>
      </p:sp>
      <p:pic>
        <p:nvPicPr>
          <p:cNvPr id="4" name="Image 0" descr="presentation/professional-assets/web_home_proce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416052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" y="1033272"/>
            <a:ext cx="4197096" cy="3054096"/>
          </a:xfrm>
          <a:prstGeom prst="roundRect">
            <a:avLst>
              <a:gd name="adj" fmla="val 2395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D6C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B5B5B5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93208" y="1069848"/>
            <a:ext cx="1737360" cy="3602736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AD9D2"/>
            </a:solidFill>
            <a:prstDash val="solid"/>
          </a:ln>
          <a:effectLst>
            <a:outerShdw sx="100000" sy="100000" kx="0" ky="0" algn="bl" rotWithShape="0" blurRad="25400" dist="50800" dir="2700000">
              <a:srgbClr val="7A7A7A">
                <a:alpha val="13000"/>
              </a:srgbClr>
            </a:outerShdw>
          </a:effectLst>
        </p:spPr>
      </p:sp>
      <p:pic>
        <p:nvPicPr>
          <p:cNvPr id="7" name="Image 1" descr="presentation/professional-assets/owner_concierg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143000"/>
            <a:ext cx="1591056" cy="34564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004304" y="1069848"/>
            <a:ext cx="1737360" cy="3602736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AD9D2"/>
            </a:solidFill>
            <a:prstDash val="solid"/>
          </a:ln>
          <a:effectLst>
            <a:outerShdw sx="100000" sy="100000" kx="0" ky="0" algn="bl" rotWithShape="0" blurRad="25400" dist="50800" dir="2700000">
              <a:srgbClr val="7A7A7A">
                <a:alpha val="13000"/>
              </a:srgbClr>
            </a:outerShdw>
          </a:effectLst>
        </p:spPr>
      </p:sp>
      <p:pic>
        <p:nvPicPr>
          <p:cNvPr id="9" name="Image 2" descr="presentation/professional-assets/pro_star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1143000"/>
            <a:ext cx="1591056" cy="34564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4599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Vertrauen schaffen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3246120" y="4599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Anliegen sauber aufnehmen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355080" y="45994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Partner kontrolliert aktivieren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9464040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Betrieb skalierbar machen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85800" y="5623560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 Produkt wirkt dann stark, wenn wir es als Service-System präsentieren: vom öffentlichen Versprechen über den Hausmeister bis zur kontrollierten Partnerausführung.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reenshot Index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b="1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Anhang: alle aufgenommenen Live-Screenshots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17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Alle Originalscreenshots liegen zusätzlich einzeln im Ordner presentation/.</a:t>
            </a:r>
            <a:endParaRPr lang="en-US" sz="1000" dirty="0"/>
          </a:p>
        </p:txBody>
      </p:sp>
      <p:pic>
        <p:nvPicPr>
          <p:cNvPr id="4" name="Image 0" descr="presentation/professional-assets/all_screenshots_inde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143000"/>
            <a:ext cx="7863840" cy="5230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" y="1124712"/>
            <a:ext cx="7900416" cy="5266944"/>
          </a:xfrm>
          <a:prstGeom prst="roundRect">
            <a:avLst>
              <a:gd name="adj" fmla="val 1389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D6C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B5B5B5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006840" y="1143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00" b="1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Originaldateien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006840" y="178308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01–03 Webseite</a:t>
            </a:r>
            <a:endParaRPr lang="en-US" sz="1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04–07 Eigentümer-App</a:t>
            </a:r>
            <a:endParaRPr lang="en-US" sz="1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08–11 Handwerker-App</a:t>
            </a:r>
            <a:endParaRPr lang="en-US" sz="1600" dirty="0"/>
          </a:p>
          <a:p>
            <a:pPr algn="l" indent="0" marL="0">
              <a:lnSpc>
                <a:spcPct val="90000"/>
              </a:lnSpc>
              <a:buNone/>
            </a:pPr>
            <a:endParaRPr lang="en-US" sz="1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Quelle: https://einfachhausen.de</a:t>
            </a:r>
            <a:endParaRPr lang="en-US" sz="1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11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Stand: main/prod 3a8aa93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006840" y="4892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60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Diese Folie ist bewusst nur der Nachweis. Die Präsentationsfolien davor nutzen passende Zuschnitte statt roher Vollseiten.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Einfachhausen – Live Produktstand</dc:title>
  <dc:subject>Einfachhausen Live Produktstand</dc:subject>
  <dc:creator>OpenSIN / ChatGPT Web</dc:creator>
  <cp:lastModifiedBy>OpenSIN / ChatGPT Web</cp:lastModifiedBy>
  <cp:revision>1</cp:revision>
  <dcterms:created xsi:type="dcterms:W3CDTF">2026-08-26T02:36:15Z</dcterms:created>
  <dcterms:modified xsi:type="dcterms:W3CDTF">2026-08-26T02:36:15Z</dcterms:modified>
</cp:coreProperties>
</file>